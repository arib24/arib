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91" r:id="rId9"/>
    <p:sldId id="292" r:id="rId10"/>
    <p:sldId id="264" r:id="rId11"/>
    <p:sldId id="286" r:id="rId12"/>
    <p:sldId id="287" r:id="rId13"/>
    <p:sldId id="280" r:id="rId14"/>
    <p:sldId id="288" r:id="rId15"/>
    <p:sldId id="293"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247836863"/>
              </p:ext>
            </p:extLst>
          </p:nvPr>
        </p:nvGraphicFramePr>
        <p:xfrm>
          <a:off x="1299257" y="2600315"/>
          <a:ext cx="9752200" cy="2167128"/>
        </p:xfrm>
        <a:graphic>
          <a:graphicData uri="http://schemas.openxmlformats.org/drawingml/2006/table">
            <a:tbl>
              <a:tblPr>
                <a:noFill/>
                <a:tableStyleId>{0AAD8F4D-43EB-41E5-8A38-28AB6DFB1B60}</a:tableStyleId>
              </a:tblPr>
              <a:tblGrid>
                <a:gridCol w="2104636">
                  <a:extLst>
                    <a:ext uri="{9D8B030D-6E8A-4147-A177-3AD203B41FA5}">
                      <a16:colId xmlns:a16="http://schemas.microsoft.com/office/drawing/2014/main" val="20000"/>
                    </a:ext>
                  </a:extLst>
                </a:gridCol>
                <a:gridCol w="2490431">
                  <a:extLst>
                    <a:ext uri="{9D8B030D-6E8A-4147-A177-3AD203B41FA5}">
                      <a16:colId xmlns:a16="http://schemas.microsoft.com/office/drawing/2014/main" val="20002"/>
                    </a:ext>
                  </a:extLst>
                </a:gridCol>
                <a:gridCol w="2490431">
                  <a:extLst>
                    <a:ext uri="{9D8B030D-6E8A-4147-A177-3AD203B41FA5}">
                      <a16:colId xmlns:a16="http://schemas.microsoft.com/office/drawing/2014/main" val="20003"/>
                    </a:ext>
                  </a:extLst>
                </a:gridCol>
                <a:gridCol w="2666702">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Arib Adil Mohammad Fazil</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aribadil4@gmail.com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7058265852</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122039" y="3738417"/>
            <a:ext cx="624469"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Study Coach AI Agent</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pPr fontAlgn="base"/>
            <a:r>
              <a:rPr lang="en-US" b="1" dirty="0"/>
              <a:t>Problem Statement : Study Coach Agent</a:t>
            </a:r>
            <a:r>
              <a:rPr lang="en-US" dirty="0"/>
              <a:t> </a:t>
            </a:r>
          </a:p>
          <a:p>
            <a:pPr fontAlgn="base"/>
            <a:endParaRPr lang="en-US" b="1" dirty="0"/>
          </a:p>
          <a:p>
            <a:pPr fontAlgn="base"/>
            <a:r>
              <a:rPr lang="en-US" b="1" dirty="0"/>
              <a:t>The Challenge</a:t>
            </a:r>
            <a:r>
              <a:rPr lang="en-US" dirty="0"/>
              <a:t> </a:t>
            </a:r>
          </a:p>
          <a:p>
            <a:pPr fontAlgn="base"/>
            <a:r>
              <a:rPr lang="en-IN" dirty="0"/>
              <a:t>Students often struggle with understanding complex concepts, managing study schedules, preparing for exams, and finding reliable learning resources. Educational content is scattered across multiple platforms, making it difficult for learners to receive personalized guidance. Traditional learning systems lack real-time support, adaptive explanations, and interactive study assistance tailored to individual learning needs.</a:t>
            </a:r>
          </a:p>
          <a:p>
            <a:pPr fontAlgn="base"/>
            <a:endParaRPr lang="en-US" dirty="0"/>
          </a:p>
          <a:p>
            <a:pPr fontAlgn="base"/>
            <a:r>
              <a:rPr lang="en-US" b="1" dirty="0"/>
              <a:t>The Objective</a:t>
            </a:r>
            <a:r>
              <a:rPr lang="en-US" dirty="0"/>
              <a:t> </a:t>
            </a:r>
          </a:p>
          <a:p>
            <a:r>
              <a:rPr lang="en-IN" dirty="0"/>
              <a:t>Build an </a:t>
            </a:r>
            <a:r>
              <a:rPr lang="en-IN" b="1" dirty="0"/>
              <a:t>AI-Powered Study Coach Agent</a:t>
            </a:r>
            <a:r>
              <a:rPr lang="en-IN" dirty="0"/>
              <a:t> that provides personalized learning support and academic guidance for students across multiple subjects.</a:t>
            </a:r>
          </a:p>
          <a:p>
            <a:r>
              <a:rPr lang="en-IN" dirty="0"/>
              <a:t>The solution should:</a:t>
            </a:r>
          </a:p>
          <a:p>
            <a:r>
              <a:rPr lang="en-IN" dirty="0"/>
              <a:t>Personalized Study Plans – Create study schedules based on goals, exams, and learning pace. </a:t>
            </a:r>
          </a:p>
          <a:p>
            <a:r>
              <a:rPr lang="en-IN" dirty="0"/>
              <a:t>Knowledge Retrieval (RAG) – Fetch accurate educational content from trusted learning resources. </a:t>
            </a:r>
          </a:p>
          <a:p>
            <a:r>
              <a:rPr lang="en-IN" dirty="0"/>
              <a:t>Concept Explanation – Explain difficult topics in simple and adaptive ways. </a:t>
            </a:r>
          </a:p>
          <a:p>
            <a:r>
              <a:rPr lang="en-IN" dirty="0"/>
              <a:t>Quiz &amp; Assessment Generation – Generate quizzes, mock tests, and flashcards. </a:t>
            </a:r>
          </a:p>
          <a:p>
            <a:r>
              <a:rPr lang="en-IN" dirty="0"/>
              <a:t>Multi-Agent System: </a:t>
            </a:r>
          </a:p>
          <a:p>
            <a:pPr lvl="1"/>
            <a:r>
              <a:rPr lang="en-IN" dirty="0"/>
              <a:t>Learning Knowledge Agent </a:t>
            </a:r>
          </a:p>
          <a:p>
            <a:pPr lvl="1"/>
            <a:r>
              <a:rPr lang="en-IN" dirty="0"/>
              <a:t>Study Planning Agent </a:t>
            </a:r>
          </a:p>
          <a:p>
            <a:pPr lvl="1"/>
            <a:r>
              <a:rPr lang="en-IN" dirty="0"/>
              <a:t>Quiz &amp; Assessment Agent </a:t>
            </a:r>
          </a:p>
          <a:p>
            <a:pPr lvl="1"/>
            <a:r>
              <a:rPr lang="en-IN" dirty="0"/>
              <a:t>Progress Tracking Agent </a:t>
            </a:r>
          </a:p>
          <a:p>
            <a:r>
              <a:rPr lang="en-IN" dirty="0"/>
              <a:t>Performance Dashboard – Track learning progress, study hours, and subject-wise performance.</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6124754"/>
          </a:xfrm>
          <a:prstGeom prst="rect">
            <a:avLst/>
          </a:prstGeom>
          <a:noFill/>
        </p:spPr>
        <p:txBody>
          <a:bodyPr wrap="square" rtlCol="0">
            <a:spAutoFit/>
          </a:bodyPr>
          <a:lstStyle/>
          <a:p>
            <a:r>
              <a:rPr lang="en-US" b="1" dirty="0"/>
              <a:t>Proposed Solution: AI-Powered Study Coach Agent</a:t>
            </a:r>
          </a:p>
          <a:p>
            <a:r>
              <a:rPr lang="en-IN" dirty="0"/>
              <a:t>The proposed solution is a </a:t>
            </a:r>
            <a:r>
              <a:rPr lang="en-IN" b="1" dirty="0"/>
              <a:t>Multi-Agent AI-Powered Study Coach Agent</a:t>
            </a:r>
            <a:r>
              <a:rPr lang="en-IN" dirty="0"/>
              <a:t> developed using </a:t>
            </a:r>
            <a:r>
              <a:rPr lang="en-IN" b="1" dirty="0"/>
              <a:t>IBM watsonx.ai, IBM Granite Models, </a:t>
            </a:r>
            <a:r>
              <a:rPr lang="en-IN" b="1" dirty="0" err="1"/>
              <a:t>LangFlow</a:t>
            </a:r>
            <a:r>
              <a:rPr lang="en-IN" b="1" dirty="0"/>
              <a:t>, RAG, and IBM Cloud</a:t>
            </a:r>
            <a:r>
              <a:rPr lang="en-IN" dirty="0"/>
              <a:t>.</a:t>
            </a:r>
          </a:p>
          <a:p>
            <a:r>
              <a:rPr lang="en-IN" dirty="0"/>
              <a:t>The platform acts as an intelligent virtual tutor that helps students learn effectively through personalized guidance, adaptive explanations, and exam preparation assistance.</a:t>
            </a:r>
          </a:p>
          <a:p>
            <a:r>
              <a:rPr lang="en-IN" dirty="0"/>
              <a:t>The system leverages a Retrieval-Augmented Generation (RAG) architecture to retrieve educational content from reliable academic resources, textbooks, documentation, and study materials. Retrieved information is processed by IBM Granite Models to generate accurate and easy-to-understand explanations.</a:t>
            </a:r>
          </a:p>
          <a:p>
            <a:r>
              <a:rPr lang="en-IN" b="1" dirty="0"/>
              <a:t>Key Agents</a:t>
            </a:r>
          </a:p>
          <a:p>
            <a:r>
              <a:rPr lang="en-IN" b="1" dirty="0"/>
              <a:t>Learning Knowledge Agent</a:t>
            </a:r>
          </a:p>
          <a:p>
            <a:r>
              <a:rPr lang="en-IN" dirty="0"/>
              <a:t>Retrieves academic information from educational resources and explains concepts clearly.</a:t>
            </a:r>
          </a:p>
          <a:p>
            <a:r>
              <a:rPr lang="en-IN" b="1" dirty="0"/>
              <a:t>Study Planning Agent</a:t>
            </a:r>
          </a:p>
          <a:p>
            <a:r>
              <a:rPr lang="en-IN" dirty="0"/>
              <a:t>Creates personalized study schedules based on student goals, available study time, and exam dates.</a:t>
            </a:r>
          </a:p>
          <a:p>
            <a:r>
              <a:rPr lang="en-IN" b="1" dirty="0"/>
              <a:t>Quiz &amp; Assessment Agent</a:t>
            </a:r>
          </a:p>
          <a:p>
            <a:r>
              <a:rPr lang="en-IN" dirty="0"/>
              <a:t>Generates quizzes, practice questions, flashcards, and mock exams for active learning.</a:t>
            </a:r>
          </a:p>
          <a:p>
            <a:r>
              <a:rPr lang="en-IN" b="1" dirty="0"/>
              <a:t>Progress Tracking Agent</a:t>
            </a:r>
          </a:p>
          <a:p>
            <a:r>
              <a:rPr lang="en-IN" dirty="0" err="1"/>
              <a:t>Analyzes</a:t>
            </a:r>
            <a:r>
              <a:rPr lang="en-IN" dirty="0"/>
              <a:t> learning progress, identifies weak areas, and recommends improvement strategies.</a:t>
            </a:r>
          </a:p>
          <a:p>
            <a:r>
              <a:rPr lang="en-IN" b="1" dirty="0"/>
              <a:t>Dashboard Features</a:t>
            </a:r>
          </a:p>
          <a:p>
            <a:r>
              <a:rPr lang="en-IN" dirty="0"/>
              <a:t>Subject-wise performance tracking </a:t>
            </a:r>
          </a:p>
          <a:p>
            <a:r>
              <a:rPr lang="en-IN" dirty="0"/>
              <a:t>Learning analytics </a:t>
            </a:r>
          </a:p>
          <a:p>
            <a:r>
              <a:rPr lang="en-IN" dirty="0"/>
              <a:t>Study goal monitoring </a:t>
            </a:r>
          </a:p>
          <a:p>
            <a:r>
              <a:rPr lang="en-IN" dirty="0"/>
              <a:t>Progress visualization </a:t>
            </a:r>
          </a:p>
          <a:p>
            <a:r>
              <a:rPr lang="en-IN" dirty="0"/>
              <a:t>Revision recommendations </a:t>
            </a:r>
          </a:p>
          <a:p>
            <a:endParaRPr lang="en-IN" dirty="0"/>
          </a:p>
          <a:p>
            <a:r>
              <a:rPr lang="en-IN" dirty="0"/>
              <a:t>The solution combines AI-powered tutoring, assessment generation, personalized planning, and learning analytics into one intelligent educational platform.</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130671"/>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10092" y="725227"/>
            <a:ext cx="10515600" cy="661719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b="1" dirty="0" err="1"/>
              <a:t>LangFlow</a:t>
            </a:r>
            <a:r>
              <a:rPr lang="en-IN" sz="1800" b="1" dirty="0"/>
              <a:t> Platform</a:t>
            </a:r>
          </a:p>
          <a:p>
            <a:r>
              <a:rPr lang="en-IN" sz="1800" dirty="0"/>
              <a:t>    Used for visually designing and orchestrating multi-agent workflows.</a:t>
            </a:r>
          </a:p>
          <a:p>
            <a:endParaRPr lang="en-IN" sz="1800" dirty="0"/>
          </a:p>
          <a:p>
            <a:pPr marL="285750" indent="-285750">
              <a:buFont typeface="Arial" panose="020B0604020202020204" pitchFamily="34" charset="0"/>
              <a:buChar char="•"/>
            </a:pPr>
            <a:r>
              <a:rPr lang="en-IN" sz="1800" b="1" dirty="0"/>
              <a:t>IBM Granite Models</a:t>
            </a:r>
          </a:p>
          <a:p>
            <a:r>
              <a:rPr lang="en-IN" sz="1800" dirty="0"/>
              <a:t>    For reasoning, tutoring, summarization, quiz generation, and personalized learning assistance.</a:t>
            </a:r>
          </a:p>
          <a:p>
            <a:endParaRPr lang="en-IN" sz="1800" dirty="0"/>
          </a:p>
          <a:p>
            <a:pPr marL="285750" indent="-285750">
              <a:buFont typeface="Arial" panose="020B0604020202020204" pitchFamily="34" charset="0"/>
              <a:buChar char="•"/>
            </a:pPr>
            <a:r>
              <a:rPr lang="en-IN" sz="1800" b="1" dirty="0"/>
              <a:t>Recommended Model:</a:t>
            </a:r>
            <a:r>
              <a:rPr lang="en-IN" sz="1800" dirty="0"/>
              <a:t> IBM Granite 4.0 8B Instruct</a:t>
            </a:r>
          </a:p>
          <a:p>
            <a:endParaRPr lang="en-IN" sz="1800" dirty="0"/>
          </a:p>
          <a:p>
            <a:pPr marL="285750" indent="-285750">
              <a:buFont typeface="Arial" panose="020B0604020202020204" pitchFamily="34" charset="0"/>
              <a:buChar char="•"/>
            </a:pPr>
            <a:r>
              <a:rPr lang="en-IN" sz="1800" b="1" dirty="0"/>
              <a:t>IBM Cloud</a:t>
            </a:r>
          </a:p>
          <a:p>
            <a:r>
              <a:rPr lang="en-IN" sz="1800" dirty="0"/>
              <a:t>    Provides secure, scalable, and reliable infrastructure for deployment.</a:t>
            </a:r>
          </a:p>
          <a:p>
            <a:endParaRPr lang="en-IN" sz="1800" dirty="0"/>
          </a:p>
          <a:p>
            <a:pPr marL="285750" indent="-285750">
              <a:buFont typeface="Arial" panose="020B0604020202020204" pitchFamily="34" charset="0"/>
              <a:buChar char="•"/>
            </a:pPr>
            <a:r>
              <a:rPr lang="en-IN" sz="1800" b="1" dirty="0"/>
              <a:t>Retrieval-Augmented Generation (RAG)</a:t>
            </a:r>
          </a:p>
          <a:p>
            <a:r>
              <a:rPr lang="en-IN" sz="1800" b="1" dirty="0"/>
              <a:t>     </a:t>
            </a:r>
            <a:r>
              <a:rPr lang="en-IN" sz="1800" dirty="0"/>
              <a:t>Fetches trusted educational content before generating responses, improving accuracy and                                                                                               reducing hallucinations.</a:t>
            </a:r>
          </a:p>
          <a:p>
            <a:endParaRPr lang="en-IN" sz="1800" dirty="0"/>
          </a:p>
          <a:p>
            <a:pPr marL="285750" indent="-285750">
              <a:buFont typeface="Arial" panose="020B0604020202020204" pitchFamily="34" charset="0"/>
              <a:buChar char="•"/>
            </a:pPr>
            <a:r>
              <a:rPr lang="en-IN" sz="1800" b="1" dirty="0"/>
              <a:t>IBM watsonx.ai</a:t>
            </a:r>
          </a:p>
          <a:p>
            <a:r>
              <a:rPr lang="en-IN" sz="1800" dirty="0"/>
              <a:t>    Used for model deployment, prompt engineering, embeddings, governance, and AI orchestration.</a:t>
            </a:r>
          </a:p>
          <a:p>
            <a:endParaRPr lang="en-IN" sz="1800" dirty="0"/>
          </a:p>
          <a:p>
            <a:pPr marL="285750" indent="-285750">
              <a:buFont typeface="Arial" panose="020B0604020202020204" pitchFamily="34" charset="0"/>
              <a:buChar char="•"/>
            </a:pPr>
            <a:r>
              <a:rPr lang="en-IN" sz="1800" b="1" dirty="0"/>
              <a:t>Vector Database (FAISS / </a:t>
            </a:r>
            <a:r>
              <a:rPr lang="en-IN" sz="1800" b="1" dirty="0" err="1"/>
              <a:t>ChromaDB</a:t>
            </a:r>
            <a:r>
              <a:rPr lang="en-IN" sz="1800" b="1" dirty="0"/>
              <a:t>)</a:t>
            </a:r>
          </a:p>
          <a:p>
            <a:r>
              <a:rPr lang="en-IN" sz="1800" dirty="0"/>
              <a:t>    Stores educational embeddings for fast semantic retrieval.</a:t>
            </a:r>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Orchestrate 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632859"/>
          </a:xfrm>
          <a:prstGeom prst="rect">
            <a:avLst/>
          </a:prstGeom>
          <a:noFill/>
        </p:spPr>
        <p:txBody>
          <a:bodyPr wrap="square" rtlCol="0">
            <a:spAutoFit/>
          </a:bodyPr>
          <a:lstStyle/>
          <a:p>
            <a:endParaRPr lang="en-US" dirty="0"/>
          </a:p>
          <a:p>
            <a:r>
              <a:rPr lang="en-IN" b="1" dirty="0"/>
              <a:t>1. Chat Input</a:t>
            </a:r>
          </a:p>
          <a:p>
            <a:r>
              <a:rPr lang="en-IN" dirty="0"/>
              <a:t>Allows students to enter questions, topics, study goals, or learning requests.</a:t>
            </a:r>
          </a:p>
          <a:p>
            <a:endParaRPr lang="en-IN" dirty="0"/>
          </a:p>
          <a:p>
            <a:r>
              <a:rPr lang="en-IN" b="1" dirty="0"/>
              <a:t>2. IBM </a:t>
            </a:r>
            <a:r>
              <a:rPr lang="en-IN" b="1" dirty="0" err="1"/>
              <a:t>watsonx</a:t>
            </a:r>
            <a:r>
              <a:rPr lang="en-IN" b="1" dirty="0"/>
              <a:t> AI Agent</a:t>
            </a:r>
          </a:p>
          <a:p>
            <a:r>
              <a:rPr lang="en-IN" dirty="0"/>
              <a:t>Processes requests using Granite Models and coordinates multiple educational agents.</a:t>
            </a:r>
          </a:p>
          <a:p>
            <a:endParaRPr lang="en-IN" dirty="0"/>
          </a:p>
          <a:p>
            <a:r>
              <a:rPr lang="en-IN" b="1" dirty="0"/>
              <a:t>3. IBM Granite Model</a:t>
            </a:r>
          </a:p>
          <a:p>
            <a:r>
              <a:rPr lang="en-IN" dirty="0"/>
              <a:t>Granite 4.0 8B Instruct</a:t>
            </a:r>
          </a:p>
          <a:p>
            <a:r>
              <a:rPr lang="en-IN" dirty="0"/>
              <a:t>Provides:</a:t>
            </a:r>
          </a:p>
          <a:p>
            <a:r>
              <a:rPr lang="en-IN" dirty="0"/>
              <a:t>Concept explanation </a:t>
            </a:r>
          </a:p>
          <a:p>
            <a:r>
              <a:rPr lang="en-IN" dirty="0"/>
              <a:t>Question answering </a:t>
            </a:r>
          </a:p>
          <a:p>
            <a:r>
              <a:rPr lang="en-IN" dirty="0"/>
              <a:t>Quiz generation </a:t>
            </a:r>
          </a:p>
          <a:p>
            <a:r>
              <a:rPr lang="en-IN" dirty="0"/>
              <a:t>Study planning </a:t>
            </a:r>
          </a:p>
          <a:p>
            <a:endParaRPr lang="en-IN" dirty="0"/>
          </a:p>
          <a:p>
            <a:r>
              <a:rPr lang="en-IN" b="1" dirty="0"/>
              <a:t>4. Chat Output</a:t>
            </a:r>
          </a:p>
          <a:p>
            <a:r>
              <a:rPr lang="en-IN" dirty="0"/>
              <a:t>Displays personalized study guidance, explanations, quizzes, and recommendations.</a:t>
            </a:r>
          </a:p>
          <a:p>
            <a:endParaRPr lang="en-IN" dirty="0"/>
          </a:p>
          <a:p>
            <a:r>
              <a:rPr lang="en-IN" b="1" dirty="0"/>
              <a:t>5. File Component</a:t>
            </a:r>
          </a:p>
          <a:p>
            <a:r>
              <a:rPr lang="en-IN" dirty="0"/>
              <a:t>Stores uploaded notes, learning resources, and study materials.</a:t>
            </a:r>
          </a:p>
          <a:p>
            <a:endParaRPr lang="en-IN" dirty="0"/>
          </a:p>
          <a:p>
            <a:r>
              <a:rPr lang="en-IN" b="1" dirty="0"/>
              <a:t>6. Knowledge Base Component</a:t>
            </a:r>
          </a:p>
          <a:p>
            <a:r>
              <a:rPr lang="en-IN" dirty="0"/>
              <a:t>Stores educational resources and vectorized learning content for RAG retrieval.</a:t>
            </a:r>
          </a:p>
          <a:p>
            <a:endParaRPr lang="en-IN" dirty="0"/>
          </a:p>
          <a:p>
            <a:r>
              <a:rPr lang="en-IN" b="1" dirty="0"/>
              <a:t>7. Dashboard Component</a:t>
            </a:r>
          </a:p>
          <a:p>
            <a:r>
              <a:rPr lang="en-IN" dirty="0"/>
              <a:t>Visualizes learning progress and performance metrics.</a:t>
            </a:r>
          </a:p>
          <a:p>
            <a:br>
              <a:rPr lang="en-IN" dirty="0"/>
            </a:b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6" name="Picture 5">
            <a:extLst>
              <a:ext uri="{FF2B5EF4-FFF2-40B4-BE49-F238E27FC236}">
                <a16:creationId xmlns:a16="http://schemas.microsoft.com/office/drawing/2014/main" id="{4C7FC88A-B369-455A-F57A-122CC34E5233}"/>
              </a:ext>
            </a:extLst>
          </p:cNvPr>
          <p:cNvPicPr>
            <a:picLocks noChangeAspect="1"/>
          </p:cNvPicPr>
          <p:nvPr/>
        </p:nvPicPr>
        <p:blipFill>
          <a:blip r:embed="rId3"/>
          <a:srcRect b="4193"/>
          <a:stretch>
            <a:fillRect/>
          </a:stretch>
        </p:blipFill>
        <p:spPr>
          <a:xfrm>
            <a:off x="725250" y="928387"/>
            <a:ext cx="10568695" cy="568577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sp>
        <p:nvSpPr>
          <p:cNvPr id="4" name="TextBox 3">
            <a:extLst>
              <a:ext uri="{FF2B5EF4-FFF2-40B4-BE49-F238E27FC236}">
                <a16:creationId xmlns:a16="http://schemas.microsoft.com/office/drawing/2014/main" id="{878DC055-9DE8-731B-4573-E65371EBEDCA}"/>
              </a:ext>
            </a:extLst>
          </p:cNvPr>
          <p:cNvSpPr txBox="1"/>
          <p:nvPr/>
        </p:nvSpPr>
        <p:spPr>
          <a:xfrm>
            <a:off x="1375037" y="1172400"/>
            <a:ext cx="84919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 </a:t>
            </a:r>
            <a:endParaRPr lang="en-US" dirty="0"/>
          </a:p>
        </p:txBody>
      </p:sp>
      <p:pic>
        <p:nvPicPr>
          <p:cNvPr id="5" name="Picture 4">
            <a:extLst>
              <a:ext uri="{FF2B5EF4-FFF2-40B4-BE49-F238E27FC236}">
                <a16:creationId xmlns:a16="http://schemas.microsoft.com/office/drawing/2014/main" id="{6EA8F3D0-52BA-100E-3FD8-228494F48350}"/>
              </a:ext>
            </a:extLst>
          </p:cNvPr>
          <p:cNvPicPr>
            <a:picLocks noChangeAspect="1"/>
          </p:cNvPicPr>
          <p:nvPr/>
        </p:nvPicPr>
        <p:blipFill>
          <a:blip r:embed="rId3"/>
          <a:srcRect l="1" r="-124" b="5491"/>
          <a:stretch>
            <a:fillRect/>
          </a:stretch>
        </p:blipFill>
        <p:spPr>
          <a:xfrm>
            <a:off x="929211" y="994610"/>
            <a:ext cx="10333578" cy="5482278"/>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Other Applicable Screenshots: </a:t>
            </a:r>
            <a:endParaRPr lang="en-US"/>
          </a:p>
        </p:txBody>
      </p:sp>
      <p:pic>
        <p:nvPicPr>
          <p:cNvPr id="5" name="Picture 4">
            <a:extLst>
              <a:ext uri="{FF2B5EF4-FFF2-40B4-BE49-F238E27FC236}">
                <a16:creationId xmlns:a16="http://schemas.microsoft.com/office/drawing/2014/main" id="{7253AC72-D278-63D7-E632-BAECEFF4A52E}"/>
              </a:ext>
            </a:extLst>
          </p:cNvPr>
          <p:cNvPicPr>
            <a:picLocks noChangeAspect="1"/>
          </p:cNvPicPr>
          <p:nvPr/>
        </p:nvPicPr>
        <p:blipFill>
          <a:blip r:embed="rId3"/>
          <a:srcRect/>
          <a:stretch/>
        </p:blipFill>
        <p:spPr>
          <a:xfrm>
            <a:off x="396240" y="796304"/>
            <a:ext cx="10993120" cy="5849234"/>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582464" y="1167493"/>
            <a:ext cx="7406640" cy="4616648"/>
          </a:xfrm>
          <a:prstGeom prst="rect">
            <a:avLst/>
          </a:prstGeom>
          <a:noFill/>
        </p:spPr>
        <p:txBody>
          <a:bodyPr wrap="square" rtlCol="0">
            <a:spAutoFit/>
          </a:bodyPr>
          <a:lstStyle/>
          <a:p>
            <a:r>
              <a:rPr lang="en-IN" dirty="0"/>
              <a:t>Agentic AI enables the Study Coach system to operate as an intelligent educational assistant rather than a traditional chatbot.</a:t>
            </a:r>
          </a:p>
          <a:p>
            <a:endParaRPr lang="en-IN" dirty="0"/>
          </a:p>
          <a:p>
            <a:r>
              <a:rPr lang="en-IN" dirty="0"/>
              <a:t>Each specialized agent performs a dedicated learning task:</a:t>
            </a:r>
          </a:p>
          <a:p>
            <a:endParaRPr lang="en-IN" dirty="0"/>
          </a:p>
          <a:p>
            <a:pPr marL="285750" indent="-285750">
              <a:buFont typeface="Arial" panose="020B0604020202020204" pitchFamily="34" charset="0"/>
              <a:buChar char="•"/>
            </a:pPr>
            <a:r>
              <a:rPr lang="en-IN" dirty="0"/>
              <a:t>Knowledge Agent retrieves and explains educational content. </a:t>
            </a:r>
          </a:p>
          <a:p>
            <a:endParaRPr lang="en-IN" dirty="0"/>
          </a:p>
          <a:p>
            <a:pPr marL="285750" indent="-285750">
              <a:buFont typeface="Arial" panose="020B0604020202020204" pitchFamily="34" charset="0"/>
              <a:buChar char="•"/>
            </a:pPr>
            <a:r>
              <a:rPr lang="en-IN" dirty="0"/>
              <a:t>Study Planning Agent creates personalized schedules. </a:t>
            </a:r>
          </a:p>
          <a:p>
            <a:endParaRPr lang="en-IN" dirty="0"/>
          </a:p>
          <a:p>
            <a:pPr marL="285750" indent="-285750">
              <a:buFont typeface="Arial" panose="020B0604020202020204" pitchFamily="34" charset="0"/>
              <a:buChar char="•"/>
            </a:pPr>
            <a:r>
              <a:rPr lang="en-IN" dirty="0"/>
              <a:t>Quiz Agent generates assessments and revision materials. </a:t>
            </a:r>
          </a:p>
          <a:p>
            <a:endParaRPr lang="en-IN" dirty="0"/>
          </a:p>
          <a:p>
            <a:pPr marL="285750" indent="-285750">
              <a:buFont typeface="Arial" panose="020B0604020202020204" pitchFamily="34" charset="0"/>
              <a:buChar char="•"/>
            </a:pPr>
            <a:r>
              <a:rPr lang="en-IN" dirty="0"/>
              <a:t>Progress Agent monitors performance and suggests improvements.</a:t>
            </a:r>
          </a:p>
          <a:p>
            <a:r>
              <a:rPr lang="en-IN" dirty="0"/>
              <a:t> </a:t>
            </a:r>
          </a:p>
          <a:p>
            <a:r>
              <a:rPr lang="en-IN" dirty="0"/>
              <a:t>Agentic AI allows collaboration among agents, enabling context-aware, adaptive, and goal-driven learning experiences.</a:t>
            </a:r>
          </a:p>
          <a:p>
            <a:endParaRPr lang="en-IN" dirty="0"/>
          </a:p>
          <a:p>
            <a:r>
              <a:rPr lang="en-IN" dirty="0"/>
              <a:t>The system continuously learns from user interactions and adjusts recommendations based on student performance, learning preferences, and academic goals.</a:t>
            </a:r>
          </a:p>
          <a:p>
            <a:endParaRPr lang="en-IN" dirty="0"/>
          </a:p>
          <a:p>
            <a:r>
              <a:rPr lang="en-IN" dirty="0"/>
              <a:t>Overall, Agentic AI transforms the platform into a proactive digital tutor capable of guiding students throughout their learning journey.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69085" y="0"/>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560931" y="461665"/>
            <a:ext cx="11301984" cy="6678751"/>
          </a:xfrm>
          <a:prstGeom prst="rect">
            <a:avLst/>
          </a:prstGeom>
          <a:noFill/>
        </p:spPr>
        <p:txBody>
          <a:bodyPr wrap="square" rtlCol="0">
            <a:spAutoFit/>
          </a:bodyPr>
          <a:lstStyle/>
          <a:p>
            <a:pPr marL="285750" indent="-285750">
              <a:buFont typeface="Arial" panose="020B0604020202020204" pitchFamily="34" charset="0"/>
              <a:buChar char="•"/>
            </a:pPr>
            <a:r>
              <a:rPr lang="en-IN" sz="1800" b="1" dirty="0"/>
              <a:t>Multi-Agent Educational Intelligence</a:t>
            </a:r>
          </a:p>
          <a:p>
            <a:r>
              <a:rPr lang="en-IN" sz="1800" dirty="0"/>
              <a:t>     Uses specialized AI agents instead of a single chatbot.</a:t>
            </a:r>
          </a:p>
          <a:p>
            <a:endParaRPr lang="en-IN" sz="1800" dirty="0"/>
          </a:p>
          <a:p>
            <a:pPr marL="285750" indent="-285750">
              <a:buFont typeface="Arial" panose="020B0604020202020204" pitchFamily="34" charset="0"/>
              <a:buChar char="•"/>
            </a:pPr>
            <a:r>
              <a:rPr lang="en-IN" sz="1800" b="1" dirty="0"/>
              <a:t>Personalized Learning Paths</a:t>
            </a:r>
          </a:p>
          <a:p>
            <a:r>
              <a:rPr lang="en-IN" sz="1800" dirty="0"/>
              <a:t>     Creates custom study plans based on goals and performance.</a:t>
            </a:r>
          </a:p>
          <a:p>
            <a:endParaRPr lang="en-IN" sz="1800" dirty="0"/>
          </a:p>
          <a:p>
            <a:pPr marL="285750" indent="-285750">
              <a:buFont typeface="Arial" panose="020B0604020202020204" pitchFamily="34" charset="0"/>
              <a:buChar char="•"/>
            </a:pPr>
            <a:r>
              <a:rPr lang="en-IN" sz="1800" b="1" dirty="0"/>
              <a:t>RAG-Based Accuracy</a:t>
            </a:r>
          </a:p>
          <a:p>
            <a:r>
              <a:rPr lang="en-IN" sz="1800" dirty="0"/>
              <a:t>     Retrieves trusted educational content before generating responses.</a:t>
            </a:r>
          </a:p>
          <a:p>
            <a:endParaRPr lang="en-IN" sz="1800" dirty="0"/>
          </a:p>
          <a:p>
            <a:pPr marL="285750" indent="-285750">
              <a:buFont typeface="Arial" panose="020B0604020202020204" pitchFamily="34" charset="0"/>
              <a:buChar char="•"/>
            </a:pPr>
            <a:r>
              <a:rPr lang="en-IN" sz="1800" b="1" dirty="0"/>
              <a:t>Adaptive Explanations</a:t>
            </a:r>
          </a:p>
          <a:p>
            <a:r>
              <a:rPr lang="en-IN" sz="1800" dirty="0"/>
              <a:t>     Adjusts explanations according to student skill level.</a:t>
            </a:r>
          </a:p>
          <a:p>
            <a:endParaRPr lang="en-IN" sz="1800" dirty="0"/>
          </a:p>
          <a:p>
            <a:pPr marL="285750" indent="-285750">
              <a:buFont typeface="Arial" panose="020B0604020202020204" pitchFamily="34" charset="0"/>
              <a:buChar char="•"/>
            </a:pPr>
            <a:r>
              <a:rPr lang="en-IN" sz="1800" b="1" dirty="0"/>
              <a:t>Exam Preparation Assistant</a:t>
            </a:r>
          </a:p>
          <a:p>
            <a:r>
              <a:rPr lang="en-IN" sz="1800" dirty="0"/>
              <a:t>     Generates quizzes, mock tests, flashcards, and revision notes.</a:t>
            </a:r>
          </a:p>
          <a:p>
            <a:endParaRPr lang="en-IN" sz="1800" dirty="0"/>
          </a:p>
          <a:p>
            <a:pPr marL="285750" indent="-285750">
              <a:buFont typeface="Arial" panose="020B0604020202020204" pitchFamily="34" charset="0"/>
              <a:buChar char="•"/>
            </a:pPr>
            <a:r>
              <a:rPr lang="en-IN" sz="1800" b="1" dirty="0"/>
              <a:t>Learning Analytics</a:t>
            </a:r>
          </a:p>
          <a:p>
            <a:r>
              <a:rPr lang="en-IN" sz="1800" dirty="0"/>
              <a:t>     Tracks progress and identifies weak areas.</a:t>
            </a:r>
          </a:p>
          <a:p>
            <a:endParaRPr lang="en-IN" sz="1800" dirty="0"/>
          </a:p>
          <a:p>
            <a:pPr marL="285750" indent="-285750">
              <a:buFont typeface="Arial" panose="020B0604020202020204" pitchFamily="34" charset="0"/>
              <a:buChar char="•"/>
            </a:pPr>
            <a:r>
              <a:rPr lang="en-IN" sz="1800" b="1" dirty="0"/>
              <a:t>Modern AI Architecture</a:t>
            </a:r>
          </a:p>
          <a:p>
            <a:r>
              <a:rPr lang="en-IN" sz="1800" dirty="0"/>
              <a:t>     Powered by IBM watsonx.ai, IBM Granite Models, and Agentic AI workflows.</a:t>
            </a:r>
          </a:p>
          <a:p>
            <a:endParaRPr lang="en-IN" sz="1800" dirty="0"/>
          </a:p>
          <a:p>
            <a:pPr marL="285750" indent="-285750">
              <a:buFont typeface="Arial" panose="020B0604020202020204" pitchFamily="34" charset="0"/>
              <a:buChar char="•"/>
            </a:pPr>
            <a:r>
              <a:rPr lang="en-IN" sz="1800" b="1" dirty="0"/>
              <a:t>Scalable &amp; Enterprise Ready</a:t>
            </a:r>
          </a:p>
          <a:p>
            <a:r>
              <a:rPr lang="en-IN" sz="1800" dirty="0"/>
              <a:t>     Built on IBM Cloud with AI governance and security.</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400" dirty="0" err="1">
                <a:solidFill>
                  <a:srgbClr val="2B3541"/>
                </a:solidFill>
                <a:latin typeface="Times New Roman"/>
                <a:ea typeface="Times New Roman"/>
                <a:cs typeface="Times New Roman"/>
                <a:sym typeface="Times New Roman"/>
              </a:rPr>
              <a:t>Github</a:t>
            </a:r>
            <a:r>
              <a:rPr lang="en-US" sz="2400" dirty="0">
                <a:solidFill>
                  <a:srgbClr val="2B3541"/>
                </a:solidFill>
                <a:latin typeface="Times New Roman"/>
                <a:ea typeface="Times New Roman"/>
                <a:cs typeface="Times New Roman"/>
                <a:sym typeface="Times New Roman"/>
              </a:rPr>
              <a:t> URL – https://github.com/Arib24/Arib</a:t>
            </a:r>
            <a:endParaRPr lang="en-US" sz="240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808760"/>
            <a:ext cx="9214580" cy="4277001"/>
          </a:xfrm>
          <a:prstGeom prst="rect">
            <a:avLst/>
          </a:prstGeom>
          <a:noFill/>
          <a:ln>
            <a:noFill/>
          </a:ln>
        </p:spPr>
        <p:txBody>
          <a:bodyPr spcFirstLastPara="1" wrap="square" lIns="0" tIns="0" rIns="0" bIns="0" anchor="t" anchorCtr="0">
            <a:noAutofit/>
          </a:bodyPr>
          <a:lstStyle/>
          <a:p>
            <a:r>
              <a:rPr lang="en-IN" sz="1800" b="1" dirty="0"/>
              <a:t>1. Voice-Based Learning Assistant</a:t>
            </a:r>
          </a:p>
          <a:p>
            <a:r>
              <a:rPr lang="en-IN" sz="1800" dirty="0"/>
              <a:t>Enable natural voice conversations for hands-free learning.</a:t>
            </a:r>
          </a:p>
          <a:p>
            <a:endParaRPr lang="en-IN" sz="1800" dirty="0"/>
          </a:p>
          <a:p>
            <a:r>
              <a:rPr lang="en-IN" sz="1800" b="1" dirty="0"/>
              <a:t>2. Multilingual Learning Support</a:t>
            </a:r>
          </a:p>
          <a:p>
            <a:r>
              <a:rPr lang="en-IN" sz="1800" dirty="0"/>
              <a:t>Support multiple regional and international languages.</a:t>
            </a:r>
          </a:p>
          <a:p>
            <a:endParaRPr lang="en-IN" sz="1800" dirty="0"/>
          </a:p>
          <a:p>
            <a:r>
              <a:rPr lang="en-IN" sz="1800" b="1" dirty="0"/>
              <a:t>3. AI-Powered Doubt Resolution</a:t>
            </a:r>
          </a:p>
          <a:p>
            <a:r>
              <a:rPr lang="en-IN" sz="1800" dirty="0"/>
              <a:t>Real-time academic assistance with deeper reasoning capabilities.</a:t>
            </a:r>
          </a:p>
          <a:p>
            <a:endParaRPr lang="en-IN" sz="1800" dirty="0"/>
          </a:p>
          <a:p>
            <a:r>
              <a:rPr lang="en-IN" sz="1800" b="1" dirty="0"/>
              <a:t>4. Integration with LMS Platforms</a:t>
            </a:r>
          </a:p>
          <a:p>
            <a:r>
              <a:rPr lang="en-IN" sz="1800" dirty="0"/>
              <a:t>Connect with Moodle, Google Classroom, and university portals.</a:t>
            </a:r>
          </a:p>
          <a:p>
            <a:endParaRPr lang="en-IN" sz="1800" dirty="0"/>
          </a:p>
          <a:p>
            <a:r>
              <a:rPr lang="en-IN" sz="1800" b="1" dirty="0"/>
              <a:t>5. Personalized Learning Analytics</a:t>
            </a:r>
          </a:p>
          <a:p>
            <a:r>
              <a:rPr lang="en-IN" sz="1800" dirty="0"/>
              <a:t>Advanced performance prediction and recommendation systems.</a:t>
            </a:r>
          </a:p>
          <a:p>
            <a:endParaRPr lang="en-IN" sz="1800" dirty="0"/>
          </a:p>
          <a:p>
            <a:r>
              <a:rPr lang="en-IN" sz="1800" b="1" dirty="0"/>
              <a:t>6. AR/VR Learning Integration</a:t>
            </a:r>
          </a:p>
          <a:p>
            <a:r>
              <a:rPr lang="en-IN" sz="1800" dirty="0"/>
              <a:t>Immersive educational experiences for science and engineering subjects.</a:t>
            </a:r>
          </a:p>
          <a:p>
            <a:endParaRPr lang="en-IN" sz="1800" dirty="0"/>
          </a:p>
          <a:p>
            <a:r>
              <a:rPr lang="en-IN" sz="1800" b="1" dirty="0"/>
              <a:t>7. Mobile Application</a:t>
            </a:r>
          </a:p>
          <a:p>
            <a:r>
              <a:rPr lang="en-IN" sz="1800" dirty="0"/>
              <a:t>Dedicated Android and iOS applications for learning on the go.</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b="3674"/>
          <a:stretch>
            <a:fillRect/>
          </a:stretch>
        </p:blipFill>
        <p:spPr>
          <a:xfrm>
            <a:off x="2004667" y="704300"/>
            <a:ext cx="8182666" cy="605046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597981-C612-19FE-BB83-DCD3C3C3F608}"/>
              </a:ext>
            </a:extLst>
          </p:cNvPr>
          <p:cNvPicPr>
            <a:picLocks noChangeAspect="1"/>
          </p:cNvPicPr>
          <p:nvPr/>
        </p:nvPicPr>
        <p:blipFill>
          <a:blip r:embed="rId2"/>
          <a:srcRect b="2175"/>
          <a:stretch>
            <a:fillRect/>
          </a:stretch>
        </p:blipFill>
        <p:spPr>
          <a:xfrm>
            <a:off x="2059858" y="665460"/>
            <a:ext cx="8072283" cy="6088974"/>
          </a:xfrm>
          <a:prstGeom prst="rect">
            <a:avLst/>
          </a:prstGeom>
        </p:spPr>
      </p:pic>
      <p:sp>
        <p:nvSpPr>
          <p:cNvPr id="5" name="TextBox 4">
            <a:extLst>
              <a:ext uri="{FF2B5EF4-FFF2-40B4-BE49-F238E27FC236}">
                <a16:creationId xmlns:a16="http://schemas.microsoft.com/office/drawing/2014/main" id="{91C18D34-DEAD-C18D-F4FF-E39DEBA69214}"/>
              </a:ext>
            </a:extLst>
          </p:cNvPr>
          <p:cNvSpPr txBox="1"/>
          <p:nvPr/>
        </p:nvSpPr>
        <p:spPr>
          <a:xfrm>
            <a:off x="372642" y="103566"/>
            <a:ext cx="4483509" cy="523220"/>
          </a:xfrm>
          <a:prstGeom prst="rect">
            <a:avLst/>
          </a:prstGeom>
          <a:noFill/>
        </p:spPr>
        <p:txBody>
          <a:bodyPr wrap="square" rtlCol="0">
            <a:spAutoFit/>
          </a:bodyPr>
          <a:lstStyle/>
          <a:p>
            <a:r>
              <a:rPr lang="en-US" sz="2400" b="1" dirty="0"/>
              <a:t>Certificates</a:t>
            </a:r>
            <a:r>
              <a:rPr lang="en-US" sz="2800" b="1" dirty="0"/>
              <a:t> </a:t>
            </a:r>
            <a:r>
              <a:rPr lang="en-US" sz="2400" b="1" dirty="0"/>
              <a:t>Earned</a:t>
            </a:r>
            <a:r>
              <a:rPr lang="en-US" sz="2800" b="1" dirty="0"/>
              <a:t>:</a:t>
            </a:r>
            <a:endParaRPr lang="en-IN" sz="2800" dirty="0"/>
          </a:p>
        </p:txBody>
      </p:sp>
    </p:spTree>
    <p:extLst>
      <p:ext uri="{BB962C8B-B14F-4D97-AF65-F5344CB8AC3E}">
        <p14:creationId xmlns:p14="http://schemas.microsoft.com/office/powerpoint/2010/main" val="2058093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539" r="2539"/>
          <a:stretch/>
        </p:blipFill>
        <p:spPr>
          <a:xfrm>
            <a:off x="1820253" y="903499"/>
            <a:ext cx="8551493" cy="5550330"/>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314348"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1070</Words>
  <Application>Microsoft Office PowerPoint</Application>
  <PresentationFormat>Widescreen</PresentationFormat>
  <Paragraphs>187</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Arib Adil</cp:lastModifiedBy>
  <cp:revision>100</cp:revision>
  <dcterms:created xsi:type="dcterms:W3CDTF">2025-07-08T05:06:56Z</dcterms:created>
  <dcterms:modified xsi:type="dcterms:W3CDTF">2026-07-15T04:20:10Z</dcterms:modified>
</cp:coreProperties>
</file>